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Raleway" panose="020F0502020204030204" pitchFamily="2" charset="0"/>
      <p:regular r:id="rId13"/>
    </p:embeddedFont>
    <p:embeddedFont>
      <p:font typeface="Roboto" panose="02000000000000000000" pitchFamily="2" charset="0"/>
      <p:regular r:id="rId14"/>
    </p:embeddedFont>
    <p:embeddedFont>
      <p:font typeface="Roboto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5908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9887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PhonePe Transaction Analysis: A Power BI Dashboard Project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15428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Analyzing digital payment trends, user behavior, and transaction performance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99625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Objective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187037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732365" y="190579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275723" y="1935262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Uncover Transaction Trends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275723" y="2343944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transaction volume and value across all PhonePe services to surface meaningful patterns.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1475" y="3326805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32365" y="336222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275723" y="3391694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Analyze User Behavior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275723" y="3800376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 user demographics and evaluate payment success rates to understand engagement drivers.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1475" y="478323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32365" y="481865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275723" y="4848126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Drive Business Decisions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1275723" y="5256808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 actionable insights that empower data-driven strategy across product and operations teams.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Model Architecture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56654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2886472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Data Tables</a:t>
            </a:r>
            <a:endParaRPr lang="en-US" sz="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1058" y="3095228"/>
            <a:ext cx="2632604" cy="6589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81987" y="3205361"/>
            <a:ext cx="2361546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All_Transactions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6381987" y="3407866"/>
            <a:ext cx="2361546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2.3M records — timestamp, amount, service type, status</a:t>
            </a:r>
            <a:endParaRPr lang="en-US" sz="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03866" y="3095228"/>
            <a:ext cx="2632704" cy="65891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064795" y="3205361"/>
            <a:ext cx="2361645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All_Users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9064795" y="3407866"/>
            <a:ext cx="2361645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485K profiles — age, location, registration date</a:t>
            </a:r>
            <a:endParaRPr lang="en-US" sz="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1058" y="3804345"/>
            <a:ext cx="2632604" cy="54084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81987" y="3914477"/>
            <a:ext cx="2361546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Date_Table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6381987" y="4116983"/>
            <a:ext cx="2361546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Calendar intelligence for time-based analysis</a:t>
            </a:r>
            <a:endParaRPr lang="en-US" sz="7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3866" y="3804345"/>
            <a:ext cx="2632704" cy="54084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064795" y="3914477"/>
            <a:ext cx="2361645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Measures Table</a:t>
            </a:r>
            <a:endParaRPr lang="en-US" sz="950" dirty="0"/>
          </a:p>
        </p:txBody>
      </p:sp>
      <p:sp>
        <p:nvSpPr>
          <p:cNvPr id="16" name="Text 9"/>
          <p:cNvSpPr/>
          <p:nvPr/>
        </p:nvSpPr>
        <p:spPr>
          <a:xfrm>
            <a:off x="9064795" y="4116983"/>
            <a:ext cx="2361645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Pre-calculated KPIs and aggregations</a:t>
            </a:r>
            <a:endParaRPr lang="en-US" sz="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2EC8509-52C5-4199-1954-16907D22A9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8814" y="5438109"/>
            <a:ext cx="3258005" cy="14003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0565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Performance Indicators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460599"/>
            <a:ext cx="5340712" cy="555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₹4.2B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661475" y="2212677"/>
            <a:ext cx="5340712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Transaction Value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61475" y="2565598"/>
            <a:ext cx="5340712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value processed across all services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89508" y="1460599"/>
            <a:ext cx="5340712" cy="555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2.3M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6189508" y="2212677"/>
            <a:ext cx="5340712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Transactions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189508" y="2565598"/>
            <a:ext cx="5340712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Individual payment events recorded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1475" y="3204170"/>
            <a:ext cx="5340712" cy="555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485K</a:t>
            </a:r>
            <a:endParaRPr lang="en-US" sz="4350" dirty="0"/>
          </a:p>
        </p:txBody>
      </p:sp>
      <p:sp>
        <p:nvSpPr>
          <p:cNvPr id="10" name="Text 8"/>
          <p:cNvSpPr/>
          <p:nvPr/>
        </p:nvSpPr>
        <p:spPr>
          <a:xfrm>
            <a:off x="661475" y="3956248"/>
            <a:ext cx="5340712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Users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61475" y="4309170"/>
            <a:ext cx="5340712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Active user profiles in the dataset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89508" y="3204170"/>
            <a:ext cx="5340712" cy="555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94.2%</a:t>
            </a:r>
            <a:endParaRPr lang="en-US" sz="4350" dirty="0"/>
          </a:p>
        </p:txBody>
      </p:sp>
      <p:sp>
        <p:nvSpPr>
          <p:cNvPr id="13" name="Text 11"/>
          <p:cNvSpPr/>
          <p:nvPr/>
        </p:nvSpPr>
        <p:spPr>
          <a:xfrm>
            <a:off x="6189508" y="3956248"/>
            <a:ext cx="5340712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Success Rate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189508" y="4309170"/>
            <a:ext cx="5340712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Transactions completed without failure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1475" y="4947741"/>
            <a:ext cx="5340712" cy="555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+18.5%</a:t>
            </a:r>
            <a:endParaRPr lang="en-US" sz="4350" dirty="0"/>
          </a:p>
        </p:txBody>
      </p:sp>
      <p:sp>
        <p:nvSpPr>
          <p:cNvPr id="16" name="Text 14"/>
          <p:cNvSpPr/>
          <p:nvPr/>
        </p:nvSpPr>
        <p:spPr>
          <a:xfrm>
            <a:off x="661475" y="5699820"/>
            <a:ext cx="5340712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MoM Volume Growth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61475" y="6052741"/>
            <a:ext cx="5340712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Month-over-month transaction count increase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89508" y="4947741"/>
            <a:ext cx="5340712" cy="555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+22.3%</a:t>
            </a:r>
            <a:endParaRPr lang="en-US" sz="4350" dirty="0"/>
          </a:p>
        </p:txBody>
      </p:sp>
      <p:sp>
        <p:nvSpPr>
          <p:cNvPr id="19" name="Text 17"/>
          <p:cNvSpPr/>
          <p:nvPr/>
        </p:nvSpPr>
        <p:spPr>
          <a:xfrm>
            <a:off x="6189508" y="5699820"/>
            <a:ext cx="5340712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MoM Value Growth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189508" y="6052741"/>
            <a:ext cx="5340712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Month-over-month transaction value increase</a:t>
            </a:r>
            <a:endParaRPr lang="en-US" sz="13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C119A7A-C510-2208-7E20-2C6F1FB16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5655" y="5503267"/>
            <a:ext cx="1436346" cy="13547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Transaction Trend Over Time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Trend Highlights</a:t>
            </a:r>
            <a:endParaRPr lang="en-US" sz="1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7377" y="2451993"/>
            <a:ext cx="2509179" cy="14423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72582" y="2477393"/>
            <a:ext cx="224397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Mid-Month Peak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6572582" y="2961680"/>
            <a:ext cx="22439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Daily transaction volume averages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₹145M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at its mid-month peak.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7391" y="2451993"/>
            <a:ext cx="2509179" cy="144234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292596" y="2477393"/>
            <a:ext cx="224397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Weekend Spikes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9292596" y="2961680"/>
            <a:ext cx="22439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Consistent weekend uplift visible across all weeks in the dataset.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7377" y="4221559"/>
            <a:ext cx="5229193" cy="11399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72582" y="4246959"/>
            <a:ext cx="496398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Upward Momentum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6572582" y="4731246"/>
            <a:ext cx="496398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12% MoM growth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transaction count — a clear indicator of platform adoption acceleration.</a:t>
            </a:r>
            <a:endParaRPr lang="en-US" sz="14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18C789B-07BA-6A0E-AE07-5B8B9F728D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4673" y="5410004"/>
            <a:ext cx="3258005" cy="14003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518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Transaction by Service Type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01924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87831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Service Breakdown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6332776" y="2386211"/>
            <a:ext cx="2507394" cy="1775123"/>
          </a:xfrm>
          <a:prstGeom prst="roundRect">
            <a:avLst>
              <a:gd name="adj" fmla="val 44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528133" y="2581573"/>
            <a:ext cx="211668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📱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Mobile Recharge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528133" y="3361134"/>
            <a:ext cx="21166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38%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volume ·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₹1.6B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value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029176" y="2386211"/>
            <a:ext cx="2507394" cy="1775123"/>
          </a:xfrm>
          <a:prstGeom prst="roundRect">
            <a:avLst>
              <a:gd name="adj" fmla="val 44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9224533" y="2581573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🧾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Bill Payments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9224533" y="3065859"/>
            <a:ext cx="21166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28%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volume ·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₹1.2B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value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332776" y="4350345"/>
            <a:ext cx="2507394" cy="1479848"/>
          </a:xfrm>
          <a:prstGeom prst="roundRect">
            <a:avLst>
              <a:gd name="adj" fmla="val 536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528133" y="4545707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💸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Money Transfer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528133" y="5029994"/>
            <a:ext cx="21166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22%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volume ·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₹1.1B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value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9029176" y="4350345"/>
            <a:ext cx="2507394" cy="1479848"/>
          </a:xfrm>
          <a:prstGeom prst="roundRect">
            <a:avLst>
              <a:gd name="adj" fmla="val 536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9224533" y="4545707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➕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Other Services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9224533" y="5029994"/>
            <a:ext cx="21166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12%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volume ·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₹0.3B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value</a:t>
            </a:r>
            <a:endParaRPr lang="en-US" sz="14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9D4010E-F7EA-07B6-7273-CF04DF703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3509" y="5900140"/>
            <a:ext cx="2228491" cy="9578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6581"/>
            <a:ext cx="10868745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Demographics by Age Segment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2570892" y="1979613"/>
            <a:ext cx="1562061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35%</a:t>
            </a:r>
            <a:endParaRPr lang="en-US" sz="2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446" y="1185863"/>
            <a:ext cx="1904952" cy="190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207941"/>
            <a:ext cx="538099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18–25 Years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1475" y="3457575"/>
            <a:ext cx="5380994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engagement — the most active transaction segment on the platform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058643" y="1979613"/>
            <a:ext cx="1562061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32%</a:t>
            </a:r>
            <a:endParaRPr lang="en-US" sz="2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7197" y="1185863"/>
            <a:ext cx="1904952" cy="1905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49127" y="3207941"/>
            <a:ext cx="538109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26–35 Years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149127" y="3457575"/>
            <a:ext cx="5381094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value per transaction — the premium spending cohort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2570892" y="4623594"/>
            <a:ext cx="1562061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22%</a:t>
            </a:r>
            <a:endParaRPr lang="en-US" sz="2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9446" y="3829844"/>
            <a:ext cx="1904952" cy="1905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1475" y="5851922"/>
            <a:ext cx="538099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36–50 Years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61475" y="6101556"/>
            <a:ext cx="5380994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Stable, consistent usage — a reliable mid-tier segment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058643" y="4623594"/>
            <a:ext cx="1562061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11%</a:t>
            </a:r>
            <a:endParaRPr lang="en-US" sz="24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7197" y="3829844"/>
            <a:ext cx="1904952" cy="19050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49127" y="5851922"/>
            <a:ext cx="538109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50+ Years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149127" y="6101556"/>
            <a:ext cx="5381094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Emerging adoption — significant growth opportunity with the right UX interventions</a:t>
            </a:r>
            <a:endParaRPr lang="en-US" sz="9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8A00C2D-CC63-BDDB-4DC6-6A097731B0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1811" y="6365992"/>
            <a:ext cx="1150189" cy="4167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912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Weekday vs Weekend Behavior &amp; Payment Status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261070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Transaction Timing Patterns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11709"/>
            <a:ext cx="5257867" cy="378469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1475" y="5521027"/>
            <a:ext cx="5257867" cy="680442"/>
          </a:xfrm>
          <a:prstGeom prst="roundRect">
            <a:avLst>
              <a:gd name="adj" fmla="val 8933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32" y="5687318"/>
            <a:ext cx="180871" cy="1446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31661" y="5656858"/>
            <a:ext cx="4643024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Weekend transactions carry </a:t>
            </a: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12% higher average value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than weekday transactions — users spend more when time permits.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278703" y="1261070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Payment Status Breakdown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03" y="1611709"/>
            <a:ext cx="5257867" cy="378469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78703" y="5521027"/>
            <a:ext cx="5257867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94.2%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success rate — failed transactions are concentrated in bill payments, which register a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6.2% failure rate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vs the platform average of 4.1%.</a:t>
            </a: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4E707C5-18F6-B330-2870-D07F18B7B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7410" y="5925092"/>
            <a:ext cx="2068739" cy="8891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5171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Regional Performance: Top 10 States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37308"/>
            <a:ext cx="5773593" cy="39624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95233" y="1614488"/>
            <a:ext cx="464133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State-Level Highlights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95233" y="2111177"/>
          <a:ext cx="4641336" cy="3197542"/>
        </p:xfrm>
        <a:graphic>
          <a:graphicData uri="http://schemas.openxmlformats.org/drawingml/2006/table">
            <a:tbl>
              <a:tblPr/>
              <a:tblGrid>
                <a:gridCol w="1547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7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8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State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C3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F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Transactions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6C3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C3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F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Value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6C3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9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Maharashtra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285K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₹1.2B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9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Karnataka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198K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₹0.85B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9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Tamil Nadu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176K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₹0.74B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9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Uttar Pradesh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142K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₹0.58B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8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Others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1.5M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₹1.85B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895233" y="5527477"/>
            <a:ext cx="464133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top 4 states account for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34% of transactions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Maharashtra alone leads with ₹1.2B in total value.</a:t>
            </a:r>
            <a:endParaRPr lang="en-US" sz="14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6D1A4F-E8DA-D531-9B6C-6A88E22FEE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3623" y="6196768"/>
            <a:ext cx="1538377" cy="6612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7531"/>
            <a:ext cx="6296860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Takeaways &amp; Recommendations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661475" y="1062137"/>
            <a:ext cx="6296860" cy="1248966"/>
          </a:xfrm>
          <a:prstGeom prst="roundRect">
            <a:avLst>
              <a:gd name="adj" fmla="val 40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788869" y="1189534"/>
            <a:ext cx="363231" cy="363240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8779" y="1289447"/>
            <a:ext cx="163409" cy="1634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8869" y="1630263"/>
            <a:ext cx="604207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Accelerate Growth Momentum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788869" y="1866007"/>
            <a:ext cx="6042072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Sustained </a:t>
            </a: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18.5% MoM volume growth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signals strong adoption — invest in infrastructure to sustain this trajectory.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661475" y="2388592"/>
            <a:ext cx="6296860" cy="1248966"/>
          </a:xfrm>
          <a:prstGeom prst="roundRect">
            <a:avLst>
              <a:gd name="adj" fmla="val 40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788869" y="2515989"/>
            <a:ext cx="363231" cy="363240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8779" y="2615902"/>
            <a:ext cx="163409" cy="1634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88869" y="2956719"/>
            <a:ext cx="604207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Fix Bill Payment Failures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788869" y="3192463"/>
            <a:ext cx="6042072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Bill payments have a </a:t>
            </a: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6.2% failure rate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nearly 50% above average. Priority engineering investigation recommended.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661475" y="3715048"/>
            <a:ext cx="6296860" cy="1248966"/>
          </a:xfrm>
          <a:prstGeom prst="roundRect">
            <a:avLst>
              <a:gd name="adj" fmla="val 40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788869" y="3842445"/>
            <a:ext cx="363231" cy="363240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8779" y="3942358"/>
            <a:ext cx="163409" cy="16341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88869" y="4283174"/>
            <a:ext cx="604207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Target the 50+ Segment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788869" y="4518918"/>
            <a:ext cx="6042072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</a:t>
            </a: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11% adoption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among 50+ users presents a significant growth opportunity with UX simplification and onboarding support.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661475" y="5041503"/>
            <a:ext cx="6296860" cy="1248966"/>
          </a:xfrm>
          <a:prstGeom prst="roundRect">
            <a:avLst>
              <a:gd name="adj" fmla="val 40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788869" y="5168900"/>
            <a:ext cx="363231" cy="363240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8779" y="5268813"/>
            <a:ext cx="163409" cy="16341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88869" y="5609630"/>
            <a:ext cx="604207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Expand Regional Reach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788869" y="5845373"/>
            <a:ext cx="6042072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Other states collectively drive </a:t>
            </a: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₹1.85B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deeper regional penetration campaigns could unlock the next growth frontier.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557</Words>
  <Application>Microsoft Office PowerPoint</Application>
  <PresentationFormat>Widescreen</PresentationFormat>
  <Paragraphs>117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Roboto</vt:lpstr>
      <vt:lpstr>Raleway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Siddharth Soni</cp:lastModifiedBy>
  <cp:revision>2</cp:revision>
  <dcterms:created xsi:type="dcterms:W3CDTF">2026-09-11T08:16:50Z</dcterms:created>
  <dcterms:modified xsi:type="dcterms:W3CDTF">2026-09-11T08:53:12Z</dcterms:modified>
</cp:coreProperties>
</file>